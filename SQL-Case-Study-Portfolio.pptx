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</p:embeddedFont>
    <p:embeddedFont>
      <p:font typeface="DM Sans SemiBold" panose="020B0604020202020204" charset="0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704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912813"/>
            <a:ext cx="4712717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SQL Case Study Portfolio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568401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Relational Database Design + Business Query Solving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925119" y="2959447"/>
            <a:ext cx="730151" cy="266402"/>
          </a:xfrm>
          <a:prstGeom prst="roundRect">
            <a:avLst>
              <a:gd name="adj" fmla="val 38315"/>
            </a:avLst>
          </a:prstGeom>
          <a:solidFill>
            <a:srgbClr val="FFCCD1"/>
          </a:solidFill>
          <a:ln/>
        </p:spPr>
      </p:sp>
      <p:sp>
        <p:nvSpPr>
          <p:cNvPr id="6" name="Text 3"/>
          <p:cNvSpPr/>
          <p:nvPr/>
        </p:nvSpPr>
        <p:spPr>
          <a:xfrm>
            <a:off x="4010174" y="3001938"/>
            <a:ext cx="10172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MYSQL 8.4</a:t>
            </a:r>
            <a:endParaRPr lang="en-US" sz="850" dirty="0"/>
          </a:p>
        </p:txBody>
      </p:sp>
      <p:sp>
        <p:nvSpPr>
          <p:cNvPr id="7" name="Shape 4"/>
          <p:cNvSpPr/>
          <p:nvPr/>
        </p:nvSpPr>
        <p:spPr>
          <a:xfrm>
            <a:off x="4726112" y="2954685"/>
            <a:ext cx="1195611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FFC7C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950322" y="2967237"/>
            <a:ext cx="7056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latin typeface="DM Sans" pitchFamily="34" charset="0"/>
                <a:ea typeface="DM Sans" pitchFamily="34" charset="-122"/>
                <a:cs typeface="DM Sans" pitchFamily="34" charset="-120"/>
              </a:rPr>
              <a:t>Kapil Mali</a:t>
            </a:r>
            <a:endParaRPr lang="en-US" sz="1100" b="1" dirty="0"/>
          </a:p>
        </p:txBody>
      </p:sp>
      <p:sp>
        <p:nvSpPr>
          <p:cNvPr id="9" name="Shape 6"/>
          <p:cNvSpPr/>
          <p:nvPr/>
        </p:nvSpPr>
        <p:spPr>
          <a:xfrm>
            <a:off x="5992564" y="2954685"/>
            <a:ext cx="1459855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FFC7C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166680" y="3001937"/>
            <a:ext cx="1111621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50" b="1" dirty="0"/>
              <a:t>github.com/Kapilmali07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639342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Two Case Studies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96119" y="2365846"/>
            <a:ext cx="4004965" cy="1138238"/>
          </a:xfrm>
          <a:prstGeom prst="roundRect">
            <a:avLst>
              <a:gd name="adj" fmla="val 1121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blurRad="101600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2640" y="25123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Case 1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42640" y="2818879"/>
            <a:ext cx="3711922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Owner–Car Relationship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1:N · 4 queries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642842" y="2365846"/>
            <a:ext cx="4005039" cy="1138238"/>
          </a:xfrm>
          <a:prstGeom prst="roundRect">
            <a:avLst>
              <a:gd name="adj" fmla="val 1121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blurRad="101600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789363" y="251236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Case 2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89363" y="2818879"/>
            <a:ext cx="3711997" cy="538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650"/>
              </a:spcAft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Corporate Employee–Manager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tables · 2 queries + 3 bonus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72901" y="400645"/>
            <a:ext cx="848320" cy="249882"/>
          </a:xfrm>
          <a:prstGeom prst="roundRect">
            <a:avLst>
              <a:gd name="adj" fmla="val 38934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53938" y="441127"/>
            <a:ext cx="1143446" cy="168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72901" y="702022"/>
            <a:ext cx="3835226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Owner–Car Schema</a:t>
            </a:r>
            <a:endParaRPr lang="en-US" sz="26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901" y="1553021"/>
            <a:ext cx="5213449" cy="29542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20767" y="1462385"/>
            <a:ext cx="2655094" cy="1070297"/>
          </a:xfrm>
          <a:prstGeom prst="roundRect">
            <a:avLst>
              <a:gd name="adj" fmla="val 11362"/>
            </a:avLst>
          </a:prstGeom>
          <a:solidFill>
            <a:srgbClr val="FFFFFF"/>
          </a:solidFill>
          <a:ln w="19050">
            <a:solidFill>
              <a:srgbClr val="E5B2B7"/>
            </a:solidFill>
            <a:prstDash val="solid"/>
          </a:ln>
          <a:effectLst>
            <a:outerShdw blurRad="101600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174879" y="1616497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OWNER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74879" y="1956346"/>
            <a:ext cx="23468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Licence_No PK · Name · Address · Phone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20767" y="2661419"/>
            <a:ext cx="2655094" cy="1070297"/>
          </a:xfrm>
          <a:prstGeom prst="roundRect">
            <a:avLst>
              <a:gd name="adj" fmla="val 11362"/>
            </a:avLst>
          </a:prstGeom>
          <a:solidFill>
            <a:srgbClr val="FFFFFF"/>
          </a:solidFill>
          <a:ln w="19050">
            <a:solidFill>
              <a:srgbClr val="E5B2B7"/>
            </a:solidFill>
            <a:prstDash val="solid"/>
          </a:ln>
          <a:effectLst>
            <a:outerShdw blurRad="101600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174879" y="2815530"/>
            <a:ext cx="1688976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CAR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174879" y="3155379"/>
            <a:ext cx="2346871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Car_No PK · Model · Color · Licence_No FK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20767" y="3876601"/>
            <a:ext cx="2655094" cy="721370"/>
          </a:xfrm>
          <a:prstGeom prst="roundRect">
            <a:avLst>
              <a:gd name="adj" fmla="val 16858"/>
            </a:avLst>
          </a:prstGeom>
          <a:solidFill>
            <a:srgbClr val="B6D6FC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829" y="4074765"/>
            <a:ext cx="168846" cy="13506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59736" y="4026173"/>
            <a:ext cx="208106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Relationship: One Owner → Many Cars (1:N)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1652513"/>
            <a:ext cx="889918" cy="266402"/>
          </a:xfrm>
          <a:prstGeom prst="roundRect">
            <a:avLst>
              <a:gd name="adj" fmla="val 38315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1695004"/>
            <a:ext cx="117700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 1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975619"/>
            <a:ext cx="618083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Q1 &amp; Q2 — Owner Lookup &amp; Insert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7069" y="2631207"/>
            <a:ext cx="4024015" cy="85970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4077" y="2792016"/>
            <a:ext cx="22013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Q1 — Zen &amp; Indica Owners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714077" y="3098527"/>
            <a:ext cx="3626197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+ IN</a:t>
            </a: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</a:t>
            </a: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DISTINCT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792" y="2631207"/>
            <a:ext cx="4024089" cy="85970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860801" y="2792016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Q2 — Insert New Car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4860801" y="3098527"/>
            <a:ext cx="3626272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CAR</a:t>
            </a: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· Car_No 119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963662"/>
            <a:ext cx="889918" cy="266402"/>
          </a:xfrm>
          <a:prstGeom prst="roundRect">
            <a:avLst>
              <a:gd name="adj" fmla="val 38315"/>
            </a:avLst>
          </a:prstGeom>
          <a:solidFill>
            <a:srgbClr val="FFCCD1"/>
          </a:solidFill>
          <a:ln/>
        </p:spPr>
      </p:sp>
      <p:sp>
        <p:nvSpPr>
          <p:cNvPr id="4" name="Text 1"/>
          <p:cNvSpPr/>
          <p:nvPr/>
        </p:nvSpPr>
        <p:spPr>
          <a:xfrm>
            <a:off x="581174" y="1006153"/>
            <a:ext cx="1177007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 1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1286768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Q3 &amp; Q4 — Filters &amp; Location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496119" y="2385343"/>
            <a:ext cx="4722763" cy="826368"/>
          </a:xfrm>
          <a:prstGeom prst="roundRect">
            <a:avLst>
              <a:gd name="adj" fmla="val 1544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blurRad="101600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2640" y="2531864"/>
            <a:ext cx="218107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Q3 — Mr. Shah's Blue Cars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42640" y="283837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vs. correlated subquery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96119" y="3353470"/>
            <a:ext cx="4722763" cy="826368"/>
          </a:xfrm>
          <a:prstGeom prst="roundRect">
            <a:avLst>
              <a:gd name="adj" fmla="val 15440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blurRad="101600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2640" y="3499991"/>
            <a:ext cx="208776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Q4 — Pune Registrations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642640" y="3806503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WHERE Address = 'Pune'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7336" y="329803"/>
            <a:ext cx="704255" cy="187672"/>
          </a:xfrm>
          <a:prstGeom prst="roundRect">
            <a:avLst>
              <a:gd name="adj" fmla="val 41641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892448" y="362322"/>
            <a:ext cx="1031230" cy="1226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6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 2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827336" y="550664"/>
            <a:ext cx="5581799" cy="3391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10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Corporate Employee–Manager Schema</a:t>
            </a:r>
            <a:endParaRPr lang="en-US" sz="2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336" y="1107951"/>
            <a:ext cx="3612207" cy="36122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709071" y="2837408"/>
            <a:ext cx="4069407" cy="1532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8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tables linked by foreign keys modeling a corporate environment.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55935"/>
            <a:ext cx="919832" cy="266402"/>
          </a:xfrm>
          <a:prstGeom prst="roundRect">
            <a:avLst>
              <a:gd name="adj" fmla="val 38315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98425"/>
            <a:ext cx="120692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79041"/>
            <a:ext cx="5383560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Q1 — Above-Average Earners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94098"/>
            <a:ext cx="5177582" cy="29339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24339" y="2164705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Approach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24339" y="2527920"/>
            <a:ext cx="2628230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Self-join </a:t>
            </a: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WORKS</a:t>
            </a: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with per-company </a:t>
            </a: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AVG</a:t>
            </a: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subquery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024339" y="3150543"/>
            <a:ext cx="2628230" cy="789087"/>
          </a:xfrm>
          <a:prstGeom prst="roundRect">
            <a:avLst>
              <a:gd name="adj" fmla="val 16169"/>
            </a:avLst>
          </a:prstGeom>
          <a:solidFill>
            <a:srgbClr val="FFB3BB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098" y="3365599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485037" y="3313509"/>
            <a:ext cx="2025774" cy="46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WHERE Salary &gt; Company_Avg_Salary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6215"/>
            <a:ext cx="919832" cy="266402"/>
          </a:xfrm>
          <a:prstGeom prst="roundRect">
            <a:avLst>
              <a:gd name="adj" fmla="val 38315"/>
            </a:avLst>
          </a:prstGeom>
          <a:solidFill>
            <a:srgbClr val="FFCCD1"/>
          </a:solidFill>
          <a:ln/>
        </p:spPr>
      </p:sp>
      <p:sp>
        <p:nvSpPr>
          <p:cNvPr id="3" name="Text 1"/>
          <p:cNvSpPr/>
          <p:nvPr/>
        </p:nvSpPr>
        <p:spPr>
          <a:xfrm>
            <a:off x="581174" y="478706"/>
            <a:ext cx="1206922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CASE STUDY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759321"/>
            <a:ext cx="4631234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Q2 — Smallest Company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407" y="1414909"/>
            <a:ext cx="6339185" cy="29012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256361" y="3627208"/>
            <a:ext cx="1190142" cy="229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LIMIT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756456" y="3512575"/>
            <a:ext cx="1190143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ORDER BY Count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264702" y="3512575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COUNT Employees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740341" y="3512575"/>
            <a:ext cx="1190142" cy="458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GROUP BY Company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96119" y="4475634"/>
            <a:ext cx="8608963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Uses </a:t>
            </a: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</a:t>
            </a: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 </a:t>
            </a: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</a:t>
            </a: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 </a:t>
            </a: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LIMIT 1</a:t>
            </a: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identify the company with the fewest employees.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921097"/>
            <a:ext cx="1024235" cy="266402"/>
          </a:xfrm>
          <a:prstGeom prst="roundRect">
            <a:avLst>
              <a:gd name="adj" fmla="val 38315"/>
            </a:avLst>
          </a:prstGeom>
          <a:solidFill>
            <a:srgbClr val="FFCCD1"/>
          </a:solidFill>
          <a:ln/>
        </p:spPr>
      </p:sp>
      <p:sp>
        <p:nvSpPr>
          <p:cNvPr id="4" name="Text 1"/>
          <p:cNvSpPr/>
          <p:nvPr/>
        </p:nvSpPr>
        <p:spPr>
          <a:xfrm>
            <a:off x="4010174" y="963588"/>
            <a:ext cx="1311325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BONUS QUERIES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925119" y="1244203"/>
            <a:ext cx="499057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Advanced SQL Techniques</a:t>
            </a:r>
            <a:endParaRPr lang="en-US" sz="27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899791"/>
            <a:ext cx="283518" cy="28351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85816" y="1948458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B1 — Salary Rank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4385816" y="2254969"/>
            <a:ext cx="42620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RANK() OVER</a:t>
            </a: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per company</a:t>
            </a:r>
            <a:endParaRPr lang="en-US" sz="11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25119" y="2770063"/>
            <a:ext cx="283518" cy="28351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385816" y="2818730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B2 — City Match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4385816" y="3125242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Employee city = Company HQ</a:t>
            </a:r>
            <a:endParaRPr lang="en-US" sz="11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3635573"/>
            <a:ext cx="283518" cy="28351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385816" y="3684240"/>
            <a:ext cx="209163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B3 — Manager Team Size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4385816" y="3990752"/>
            <a:ext cx="4262065" cy="2315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HAVING COUNT(*) &gt; 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091208"/>
            <a:ext cx="400131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9C5461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Key Takeaways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496119" y="1746796"/>
            <a:ext cx="4722763" cy="1870025"/>
          </a:xfrm>
          <a:prstGeom prst="roundRect">
            <a:avLst>
              <a:gd name="adj" fmla="val 6823"/>
            </a:avLst>
          </a:prstGeom>
          <a:solidFill>
            <a:srgbClr val="FFCCD1"/>
          </a:solidFill>
          <a:ln w="4763">
            <a:solidFill>
              <a:srgbClr val="E5B2B7"/>
            </a:solidFill>
            <a:prstDash val="solid"/>
          </a:ln>
          <a:effectLst>
            <a:outerShdw blurRad="101600" dist="17780" dir="2700000" algn="bl" rotWithShape="0">
              <a:srgbClr val="E5B2B7">
                <a:alpha val="100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00881" y="1751558"/>
            <a:ext cx="2356619" cy="1043657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6" name="Text 3"/>
          <p:cNvSpPr/>
          <p:nvPr/>
        </p:nvSpPr>
        <p:spPr>
          <a:xfrm>
            <a:off x="642640" y="18933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Relational Design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42640" y="2199829"/>
            <a:ext cx="2073101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PK/FK · 1:N · 4-table schema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857500" y="1751558"/>
            <a:ext cx="2356619" cy="1043657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9" name="Shape 6"/>
          <p:cNvSpPr/>
          <p:nvPr/>
        </p:nvSpPr>
        <p:spPr>
          <a:xfrm>
            <a:off x="2857500" y="1751558"/>
            <a:ext cx="19050" cy="1043657"/>
          </a:xfrm>
          <a:prstGeom prst="roundRect">
            <a:avLst>
              <a:gd name="adj" fmla="val 669768"/>
            </a:avLst>
          </a:prstGeom>
          <a:solidFill>
            <a:srgbClr val="E5B2B7"/>
          </a:solidFill>
          <a:ln/>
        </p:spPr>
      </p:sp>
      <p:sp>
        <p:nvSpPr>
          <p:cNvPr id="10" name="Text 7"/>
          <p:cNvSpPr/>
          <p:nvPr/>
        </p:nvSpPr>
        <p:spPr>
          <a:xfrm>
            <a:off x="2999259" y="1893317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Query Techniques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2999259" y="2199829"/>
            <a:ext cx="2073101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JOIN · Subquery · GROUP BY · Window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0881" y="2795215"/>
            <a:ext cx="4713238" cy="816843"/>
          </a:xfrm>
          <a:prstGeom prst="rect">
            <a:avLst/>
          </a:prstGeom>
          <a:solidFill>
            <a:srgbClr val="FFCCD1"/>
          </a:solidFill>
          <a:ln/>
        </p:spPr>
      </p:sp>
      <p:sp>
        <p:nvSpPr>
          <p:cNvPr id="13" name="Shape 10"/>
          <p:cNvSpPr/>
          <p:nvPr/>
        </p:nvSpPr>
        <p:spPr>
          <a:xfrm>
            <a:off x="500881" y="2795215"/>
            <a:ext cx="4713238" cy="19050"/>
          </a:xfrm>
          <a:prstGeom prst="roundRect">
            <a:avLst>
              <a:gd name="adj" fmla="val 669768"/>
            </a:avLst>
          </a:prstGeom>
          <a:solidFill>
            <a:srgbClr val="E5B2B7"/>
          </a:solidFill>
          <a:ln/>
        </p:spPr>
      </p:sp>
      <p:sp>
        <p:nvSpPr>
          <p:cNvPr id="14" name="Text 11"/>
          <p:cNvSpPr/>
          <p:nvPr/>
        </p:nvSpPr>
        <p:spPr>
          <a:xfrm>
            <a:off x="642640" y="2936974"/>
            <a:ext cx="1772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A4A4A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MySQL 8.4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642640" y="3243486"/>
            <a:ext cx="4429720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DDL · DML · DQL · 9 queries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96119" y="3776290"/>
            <a:ext cx="2570638" cy="275927"/>
          </a:xfrm>
          <a:prstGeom prst="roundRect">
            <a:avLst>
              <a:gd name="adj" fmla="val 36993"/>
            </a:avLst>
          </a:prstGeom>
          <a:noFill/>
          <a:ln w="4763">
            <a:solidFill>
              <a:srgbClr val="FFC7C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7" name="Text 14"/>
          <p:cNvSpPr/>
          <p:nvPr/>
        </p:nvSpPr>
        <p:spPr>
          <a:xfrm>
            <a:off x="574776" y="3834296"/>
            <a:ext cx="241332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33000"/>
              </a:lnSpc>
            </a:pPr>
            <a:r>
              <a:rPr lang="en-US" sz="850" dirty="0">
                <a:solidFill>
                  <a:srgbClr val="FFC7CD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https://github.com/Kapilmali07/sql-case-study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322</Words>
  <Application>Microsoft Office PowerPoint</Application>
  <PresentationFormat>On-screen Show (16:9)</PresentationFormat>
  <Paragraphs>72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Consolas</vt:lpstr>
      <vt:lpstr>DM Sans</vt:lpstr>
      <vt:lpstr>DM Sans SemiBold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kapil mali</cp:lastModifiedBy>
  <cp:revision>3</cp:revision>
  <dcterms:created xsi:type="dcterms:W3CDTF">2026-06-11T02:14:47Z</dcterms:created>
  <dcterms:modified xsi:type="dcterms:W3CDTF">2026-06-11T02:19:26Z</dcterms:modified>
</cp:coreProperties>
</file>